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ANN (DL)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0.87</c:v>
                </c:pt>
                <c:pt idx="1">
                  <c:v>0.88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Macro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ANN (DL)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0.85</c:v>
                </c:pt>
                <c:pt idx="1">
                  <c:v>0.86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ANN (DL)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0.95</c:v>
                </c:pt>
                <c:pt idx="1">
                  <c:v>0.96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E2A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Deep Learning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594360"/>
          </a:xfrm>
          <a:prstGeom prst="rect">
            <a:avLst/>
          </a:prstGeom>
          <a:solidFill>
            <a:srgbClr val="1E2A4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AI-Based Student Performance &amp; Smart Guidance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2651760" cy="457200"/>
          </a:xfrm>
          <a:prstGeom prst="roundRect">
            <a:avLst/>
          </a:prstGeom>
          <a:solidFill>
            <a:srgbClr val="16203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3 Clustering Algorithms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200400"/>
            <a:ext cx="2651760" cy="457200"/>
          </a:xfrm>
          <a:prstGeom prst="roundRect">
            <a:avLst/>
          </a:prstGeom>
          <a:solidFill>
            <a:srgbClr val="1620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</a:rPr>
              <a:t>Feedforward ANN (DL)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200400"/>
            <a:ext cx="2651760" cy="457200"/>
          </a:xfrm>
          <a:prstGeom prst="roundRect">
            <a:avLst/>
          </a:prstGeom>
          <a:solidFill>
            <a:srgbClr val="1620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Real Student Impact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Dataset: Student Performance Factors (Kaggle) | Pipeline: EDA → ML → Clustering → DL → ARM → Product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Why Unsupervised Learning &amp; Deep Learning?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86968"/>
            <a:ext cx="4114800" cy="402336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86968"/>
            <a:ext cx="4114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</a:rPr>
              <a:t>Unsupervised Learning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labels needed — discovers hidden student groups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64792"/>
            <a:ext cx="37490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</a:rPr>
              <a:t>› Students cluster naturally into behavior groups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</a:rPr>
              <a:t>› Identifies At-Risk students before they fail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</a:rPr>
              <a:t>› Reveals patterns teachers cannot see manually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</a:rPr>
              <a:t>› K-Means, Hierarchical &amp; DBSCAN each offer unique insight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886968"/>
            <a:ext cx="4114800" cy="4023360"/>
          </a:xfrm>
          <a:prstGeom prst="rect">
            <a:avLst/>
          </a:prstGeom>
          <a:solidFill>
            <a:srgbClr val="1E2A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86968"/>
            <a:ext cx="4114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Deep Learning (ANN)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Captures what classical models miss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764792"/>
            <a:ext cx="37490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</a:rPr>
              <a:t>› Non-linear sleep × study × attendance interactions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8348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</a:rPr>
              <a:t>› Hierarchical feature abstraction — raw habits → grade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83480" y="2907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</a:rPr>
              <a:t>› Better generalization on complex behavioral patterns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83480" y="34381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</a:rPr>
              <a:t>› BatchNorm + Dropout = stable, accurate training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Clustering — What We Did &amp; Why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834640" cy="4160520"/>
          </a:xfrm>
          <a:prstGeom prst="rect">
            <a:avLst/>
          </a:prstGeom>
          <a:solidFill>
            <a:srgbClr val="1E2A4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283464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SELECTED FOR PRODUCT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K-Means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k=3, Elbow + Silhouette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8366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Why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88366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Best for interpretable student groups — maps to Low/Med/High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609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What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26609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Partitions students by minimizing within-cluster variance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383280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43814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Result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343814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At-Risk / Average / High Performer clusters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160520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21538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Score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421538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Silhouette: ~0.28 | CH: ~1840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841248"/>
            <a:ext cx="2834640" cy="416052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841248"/>
            <a:ext cx="2834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9326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Hierarchical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37560" y="1280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Ward Linkage + Dendrogram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1618488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16733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Why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0" y="1673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Reveals nested relationships at multiple scales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2395728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4505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What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0" y="24505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Bottom-up agglomerative clustering — dendrogram shows merges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83280" y="3172968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2278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Result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32278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3 groups with different boundary shapes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83280" y="3950208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40050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Score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23360" y="40050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Silhouette: ~0.26 | DB-Index: ~1.18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841248"/>
            <a:ext cx="2834640" cy="4160520"/>
          </a:xfrm>
          <a:prstGeom prst="rect">
            <a:avLst/>
          </a:prstGeom>
          <a:solidFill>
            <a:srgbClr val="1E2A45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841248"/>
            <a:ext cx="283464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9326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4899"/>
                </a:solidFill>
              </a:rPr>
              <a:t>DBSCAN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09360" y="1280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Density-based, noise detection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55080" y="1618488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16733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Why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95160" y="1673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Detects outlier students who defy all typical patterns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2395728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24505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What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95160" y="24505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Groups by density; low-density points flagged as noise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55080" y="3172968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2278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Result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95160" y="32278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Variable clusters + at-risk outlier identification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55080" y="3950208"/>
            <a:ext cx="256032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0050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Score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95160" y="40050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Silhouette: ~0.31 (best raw score)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K-Means Deep Dive — Methodology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3931920" cy="4069080"/>
          </a:xfrm>
          <a:prstGeom prst="rect">
            <a:avLst/>
          </a:prstGeom>
          <a:solidFill>
            <a:srgbClr val="1E2A4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How We Chose k=3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Elbow 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Plotted inertia vs k (2→10). Drop levels off at k=3 — clear elbow.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093976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20939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Silhouette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3225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k=3 maximizes silhouette (~0.28) — clusters are most distinct.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" y="2816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Interpretability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3044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k=3 maps to Low/Medium/High — matches real academic bands.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538728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5387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PCA Visualization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767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</a:rPr>
              <a:t>PCA to 2D shows visually separable clusters with minimal overlap.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841248"/>
            <a:ext cx="438912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841248"/>
            <a:ext cx="13716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At-Risk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1728" y="1234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Study: &lt;8 hrs/wk   Attend: &lt;65%   Sleep: &lt;6 hrs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1508760"/>
            <a:ext cx="1463040" cy="237744"/>
          </a:xfrm>
          <a:prstGeom prst="roundRect">
            <a:avLst/>
          </a:prstGeom>
          <a:solidFill>
            <a:srgbClr val="EF4444">
              <a:alpha val="2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5087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Grade: 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1508760"/>
            <a:ext cx="1463040" cy="23774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15087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Share: ~28%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2029968"/>
            <a:ext cx="438912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2029968"/>
            <a:ext cx="13716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2103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Average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81728" y="24231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Study: 10-18 hrs/wk   Attend: 65-80%   Sleep: 6-7 hrs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81728" y="2697480"/>
            <a:ext cx="1463040" cy="237744"/>
          </a:xfrm>
          <a:prstGeom prst="roundRect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6974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Grade: Medium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697480"/>
            <a:ext cx="1463040" cy="23774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26974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Share: ~47%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0" y="3218688"/>
            <a:ext cx="438912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480560" y="3218688"/>
            <a:ext cx="13716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3291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High Performer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681728" y="3611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Study: &gt;18 hrs/wk   Attend: &gt;80%   Sleep: 7-8 hrs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81728" y="3886200"/>
            <a:ext cx="1463040" cy="237744"/>
          </a:xfrm>
          <a:prstGeom prst="roundRect">
            <a:avLst/>
          </a:prstGeom>
          <a:solidFill>
            <a:srgbClr val="22C55E">
              <a:alpha val="2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38862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Grade: High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886200"/>
            <a:ext cx="1463040" cy="237744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8862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Share: ~25%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Hierarchical Clustering &amp; DBSCAN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Hierarchical Clustering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Method: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417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Agglomerative + Ward Linkage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Dendrogram: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8470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Plotted on 300-sample subset for clarity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768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Clusters: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2276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3 (cut at 3rd merge height)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06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Silhouette: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7066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~0.26 (close to K-Means)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36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DB-Index: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31363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~1.18 (slightly less tight)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CH-Score: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3566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~1760 (slightly lower)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959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Insight: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Shows HOW clusters relate — nested group 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822960"/>
            <a:ext cx="4114800" cy="4023360"/>
          </a:xfrm>
          <a:prstGeom prst="rect">
            <a:avLst/>
          </a:prstGeom>
          <a:solidFill>
            <a:srgbClr val="1E2A45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22960"/>
            <a:ext cx="41148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</a:rPr>
              <a:t>DBSCAN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Approach: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417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Density-based — no k required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847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Parameters: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184708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Tuned eps (0.5 to 2.0) + min_samples (5,10,15)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2768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Noise Points: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2768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Flagged as -1 — these are outlier students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706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Innovation: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270662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Noise = at-risk students who fit no group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136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Best Config: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1363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eps=1.5, min_samples=10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Silhouette: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566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~0.31 (highest raw silhouette score)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9959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</a:rPr>
              <a:t>Limitation: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Less interpretable — harder to label clusters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Clustering Algorithm Comparison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56616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K-Means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Hierarchical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DBSCAN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338C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Silhouette Score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~0.28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~0.26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~0.31 best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Davies-Bouldin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~1.12 best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~1.18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Calinski-Harabasz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~1840 best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~1760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</a:rPr>
                        <a:t>Noise Detection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Yes — unique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Interpretability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High — best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Needs k preset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Fast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Slow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03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Used in Product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Yes — chosen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Analysis only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Outlier insight</a:t>
                      </a:r>
                      <a:endParaRPr lang="en-US" sz="1200" dirty="0"/>
                    </a:p>
                  </a:txBody>
                  <a:tcPr marL="1270000" marR="1016000" marT="1016000" marB="10160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72000"/>
            <a:ext cx="8229600" cy="475488"/>
          </a:xfrm>
          <a:prstGeom prst="rect">
            <a:avLst/>
          </a:prstGeom>
          <a:solidFill>
            <a:srgbClr val="1E2A4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57200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K-Means chosen for product: most interpretable, consistent metrics, centroids map directly to At-Risk / Average / High Performer student labels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Deep Learning — What We Built &amp; Why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14800" cy="4023360"/>
          </a:xfrm>
          <a:prstGeom prst="rect">
            <a:avLst/>
          </a:prstGeom>
          <a:solidFill>
            <a:srgbClr val="1E2A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326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Why Not Just Use Random Forest?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› Random Forest assumes features interact additively — but sleep × study is multiplicative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293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› RF feature importance is global — DL learns local, context-specific patterns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4414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› ANN builds hierarchical abstractions: habits → behavior → grade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953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› DL provides full probability distributions — not just class labels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4655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</a:rPr>
              <a:t>› With 21 engineered features, deep nets extract richer cross-feature signals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</a:rPr>
              <a:t>› Result: ANN outperforms best classical model by ~1% on F1 and AUC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841248"/>
            <a:ext cx="4206240" cy="4023360"/>
          </a:xfrm>
          <a:prstGeom prst="rect">
            <a:avLst/>
          </a:prstGeom>
          <a:solidFill>
            <a:srgbClr val="1E2A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32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ANN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3657600" cy="402336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3990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Input Layer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1399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21 features (14 raw + 7 engineered)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773936"/>
            <a:ext cx="0" cy="91440"/>
          </a:xfrm>
          <a:prstGeom prst="line">
            <a:avLst/>
          </a:prstGeom>
          <a:noFill/>
          <a:ln w="19050">
            <a:solidFill>
              <a:srgbClr val="334155"/>
            </a:solidFill>
            <a:prstDash val="dot"/>
          </a:ln>
        </p:spPr>
      </p:sp>
      <p:sp>
        <p:nvSpPr>
          <p:cNvPr id="18" name="Shape 16"/>
          <p:cNvSpPr/>
          <p:nvPr/>
        </p:nvSpPr>
        <p:spPr>
          <a:xfrm>
            <a:off x="4846320" y="1865376"/>
            <a:ext cx="3657600" cy="402336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8928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</a:rPr>
              <a:t>Dense(256) + BatchNorm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880" y="1892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Dropout 0.4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2267712"/>
            <a:ext cx="0" cy="91440"/>
          </a:xfrm>
          <a:prstGeom prst="line">
            <a:avLst/>
          </a:prstGeom>
          <a:noFill/>
          <a:ln w="19050">
            <a:solidFill>
              <a:srgbClr val="334155"/>
            </a:solidFill>
            <a:prstDash val="dot"/>
          </a:ln>
        </p:spPr>
      </p:sp>
      <p:sp>
        <p:nvSpPr>
          <p:cNvPr id="22" name="Shape 20"/>
          <p:cNvSpPr/>
          <p:nvPr/>
        </p:nvSpPr>
        <p:spPr>
          <a:xfrm>
            <a:off x="4846320" y="2359152"/>
            <a:ext cx="3657600" cy="402336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3865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</a:rPr>
              <a:t>Dense(128) + BatchNorm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0" y="23865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Dropout 0.3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2761488"/>
            <a:ext cx="0" cy="91440"/>
          </a:xfrm>
          <a:prstGeom prst="line">
            <a:avLst/>
          </a:prstGeom>
          <a:noFill/>
          <a:ln w="19050">
            <a:solidFill>
              <a:srgbClr val="334155"/>
            </a:solidFill>
            <a:prstDash val="dot"/>
          </a:ln>
        </p:spPr>
      </p:sp>
      <p:sp>
        <p:nvSpPr>
          <p:cNvPr id="26" name="Shape 24"/>
          <p:cNvSpPr/>
          <p:nvPr/>
        </p:nvSpPr>
        <p:spPr>
          <a:xfrm>
            <a:off x="4846320" y="2852928"/>
            <a:ext cx="3657600" cy="402336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8803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Dense(64)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0880" y="2880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Dropout 0.2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3255264"/>
            <a:ext cx="0" cy="91440"/>
          </a:xfrm>
          <a:prstGeom prst="line">
            <a:avLst/>
          </a:prstGeom>
          <a:noFill/>
          <a:ln w="19050">
            <a:solidFill>
              <a:srgbClr val="334155"/>
            </a:solidFill>
            <a:prstDash val="dot"/>
          </a:ln>
        </p:spPr>
      </p:sp>
      <p:sp>
        <p:nvSpPr>
          <p:cNvPr id="30" name="Shape 28"/>
          <p:cNvSpPr/>
          <p:nvPr/>
        </p:nvSpPr>
        <p:spPr>
          <a:xfrm>
            <a:off x="4846320" y="3346704"/>
            <a:ext cx="3657600" cy="402336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3741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</a:rPr>
              <a:t>Dense(32)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40880" y="33741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 dropout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75120" y="3749040"/>
            <a:ext cx="0" cy="91440"/>
          </a:xfrm>
          <a:prstGeom prst="line">
            <a:avLst/>
          </a:prstGeom>
          <a:noFill/>
          <a:ln w="19050">
            <a:solidFill>
              <a:srgbClr val="334155"/>
            </a:solidFill>
            <a:prstDash val="dot"/>
          </a:ln>
        </p:spPr>
      </p:sp>
      <p:sp>
        <p:nvSpPr>
          <p:cNvPr id="34" name="Shape 32"/>
          <p:cNvSpPr/>
          <p:nvPr/>
        </p:nvSpPr>
        <p:spPr>
          <a:xfrm>
            <a:off x="4846320" y="3840480"/>
            <a:ext cx="3657600" cy="402336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8679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</a:rPr>
              <a:t>Softmax(3)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40880" y="38679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Low / Medium / High probabilities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Deep Learning — Training &amp; Performance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3931920" cy="2331720"/>
          </a:xfrm>
          <a:prstGeom prst="rect">
            <a:avLst/>
          </a:prstGeom>
          <a:solidFill>
            <a:srgbClr val="1E2A4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Training Config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Optimizer: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307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Adam lr=0.001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Loss: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Categorical Crossentropy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Batch Size: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8928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32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85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Max Epochs: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1854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150 with EarlyStopping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780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EarlyStopping: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47802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patience=15, restore best weights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706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LR Reduction: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7706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factor=0.5 on plateau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841248"/>
            <a:ext cx="4389120" cy="2331720"/>
          </a:xfrm>
          <a:prstGeom prst="rect">
            <a:avLst/>
          </a:prstGeom>
          <a:solidFill>
            <a:srgbClr val="1E2A4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8869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Performance Metrics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307592"/>
            <a:ext cx="3931920" cy="384048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3350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Accuracy: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13350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~88%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764792"/>
            <a:ext cx="3931920" cy="384048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7922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F1 Score (Macro):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17922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~86%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2221992"/>
            <a:ext cx="3931920" cy="384048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2494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ROC-AUC (OvR):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22494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~0.96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0" y="2679192"/>
            <a:ext cx="3931920" cy="38404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7066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Log Loss: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27066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~0.32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3291840"/>
            <a:ext cx="8503920" cy="1691640"/>
          </a:xfrm>
          <a:prstGeom prst="rect">
            <a:avLst/>
          </a:prstGeom>
          <a:solidFill>
            <a:srgbClr val="1E2A4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37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DL vs Best Classical Model</a:t>
            </a:r>
            <a:endParaRPr lang="en-US" sz="12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200400" y="3291840"/>
          <a:ext cx="55778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Text 32"/>
          <p:cNvSpPr/>
          <p:nvPr/>
        </p:nvSpPr>
        <p:spPr>
          <a:xfrm>
            <a:off x="457200" y="3383280"/>
            <a:ext cx="2743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ANN gains ~1% over RF by learning non-linear feature interactions (sleep × study) that tree models cannot fully capture.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Innovation — What Makes Our System Unique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834640" cy="2103120"/>
          </a:xfrm>
          <a:prstGeom prst="rect">
            <a:avLst/>
          </a:prstGeom>
          <a:solidFill>
            <a:srgbClr val="1E2A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28346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50976"/>
            <a:ext cx="621792" cy="256032"/>
          </a:xfrm>
          <a:prstGeom prst="roundRect">
            <a:avLst/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5097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</a:rPr>
              <a:t>ZZZ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15568" y="9509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Sleep Debt Calculator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280160"/>
            <a:ext cx="257860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53312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Quantifies cumulative sleep deficit. Students see the exact academic cost of poor sleep — making it visible and actionable before exams.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41248"/>
            <a:ext cx="2834640" cy="2103120"/>
          </a:xfrm>
          <a:prstGeom prst="rect">
            <a:avLst/>
          </a:prstGeom>
          <a:solidFill>
            <a:srgbClr val="1E2A4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41248"/>
            <a:ext cx="2834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950976"/>
            <a:ext cx="621792" cy="256032"/>
          </a:xfrm>
          <a:prstGeom prst="roundRect">
            <a:avLst/>
          </a:prstGeom>
          <a:solidFill>
            <a:srgbClr val="14B8A6">
              <a:alpha val="28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5097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</a:rPr>
              <a:t>EFF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041648" y="9509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Study Efficiency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280160"/>
            <a:ext cx="257860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353312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Hours × (prev score/100). Distinguishes smart studying from just logging hours — quality over quantity.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841248"/>
            <a:ext cx="2834640" cy="210312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841248"/>
            <a:ext cx="28346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950976"/>
            <a:ext cx="621792" cy="256032"/>
          </a:xfrm>
          <a:prstGeom prst="roundRect">
            <a:avLst/>
          </a:prstGeom>
          <a:solidFill>
            <a:srgbClr val="6366F1">
              <a:alpha val="2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95097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</a:rPr>
              <a:t>SIM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967728" y="9509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Progress Simulator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280160"/>
            <a:ext cx="257860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353312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What if you improve habits by 10%? Shows predicted grade change BEFORE exams — motivates action now rather than after results.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81528"/>
            <a:ext cx="2834640" cy="210312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81528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191256"/>
            <a:ext cx="621792" cy="256032"/>
          </a:xfrm>
          <a:prstGeom prst="roundRect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19125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ARM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15568" y="3191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ARM Recommendation Engine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520440"/>
            <a:ext cx="257860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593592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Frequent habit patterns → direct personalized advice. Evidence-backed rules from mined data, not generic tips.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081528"/>
            <a:ext cx="2834640" cy="2103120"/>
          </a:xfrm>
          <a:prstGeom prst="rect">
            <a:avLst/>
          </a:prstGeom>
          <a:solidFill>
            <a:srgbClr val="1E2A45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081528"/>
            <a:ext cx="283464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191256"/>
            <a:ext cx="621792" cy="256032"/>
          </a:xfrm>
          <a:prstGeom prst="roundRect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19125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C4899"/>
                </a:solidFill>
              </a:rPr>
              <a:t>RDR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041648" y="3191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Radar Chart Profile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37560" y="3520440"/>
            <a:ext cx="257860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593592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6-axis visual habit map. Students instantly see which dimension needs the most work — attendance, sleep, study, motivation.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3081528"/>
            <a:ext cx="2834640" cy="2103120"/>
          </a:xfrm>
          <a:prstGeom prst="rect">
            <a:avLst/>
          </a:prstGeom>
          <a:solidFill>
            <a:srgbClr val="1E2A4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3081528"/>
            <a:ext cx="28346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3191256"/>
            <a:ext cx="621792" cy="256032"/>
          </a:xfrm>
          <a:prstGeom prst="roundRect">
            <a:avLst/>
          </a:prstGeom>
          <a:solidFill>
            <a:srgbClr val="22C55E">
              <a:alpha val="2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319125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GRP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967728" y="31912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Behavior Cluster Badge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3520440"/>
            <a:ext cx="257860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593592"/>
            <a:ext cx="257860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K-Means assigns At-Risk / Average / High Performer badge. Peer context + self-awareness combined into one signal.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</a:rPr>
              <a:t>Results Summary &amp; Real-World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965960" cy="1115568"/>
          </a:xfrm>
          <a:prstGeom prst="rect">
            <a:avLst/>
          </a:prstGeom>
          <a:solidFill>
            <a:srgbClr val="1E2A4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</a:rPr>
              <a:t>~88%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DL 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41248"/>
            <a:ext cx="1965960" cy="1115568"/>
          </a:xfrm>
          <a:prstGeom prst="rect">
            <a:avLst/>
          </a:prstGeom>
          <a:solidFill>
            <a:srgbClr val="1E2A4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6868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</a:rPr>
              <a:t>~0.96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5727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ROC-AUC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41248"/>
            <a:ext cx="1965960" cy="1115568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6868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Student Clusters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841248"/>
            <a:ext cx="1965960" cy="1115568"/>
          </a:xfrm>
          <a:prstGeom prst="rect">
            <a:avLst/>
          </a:prstGeom>
          <a:solidFill>
            <a:srgbClr val="1E2A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68680"/>
            <a:ext cx="1965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5CF6"/>
                </a:solidFill>
              </a:rPr>
              <a:t>8+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20840" y="157276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Classifiers Tested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8503920" cy="2788920"/>
          </a:xfrm>
          <a:prstGeom prst="rect">
            <a:avLst/>
          </a:prstGeom>
          <a:solidFill>
            <a:srgbClr val="1E2A4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3055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What Students, Teachers &amp; Institutions Get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5420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Students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9077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Know their grade BEFORE exams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3284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See exactly which habits to fix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Get ARM-backed recommendations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696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Simulate progress with what-if analysis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5420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Teachers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29077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Spot At-Risk cluster students early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3284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Targeted intervention before exams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749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Evidence-based habit guidance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41696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Aggregate class cluster insights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5420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Institutions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29077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Reduce failure rates system-wide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3284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Data-driven academic support policy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3749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Identify at-risk cohorts by cluster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41696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› Track semester-over-semester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366F1"/>
                </a:solidFill>
              </a:rPr>
              <a:t>AI-Based Student Performance &amp; Smart Guidance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92024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B8A6"/>
                </a:solidFill>
              </a:rPr>
              <a:t>K-Means k=3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4B8A6"/>
                </a:solidFill>
              </a:rPr>
              <a:t>Elbow + Silhouette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2423160"/>
            <a:ext cx="192024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5CF6"/>
                </a:solidFill>
              </a:rPr>
              <a:t>ANN ~88% acc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5CF6"/>
                </a:solidFill>
              </a:rPr>
              <a:t>Beats RF by 1%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192024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</a:rPr>
              <a:t>ARM powers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</a:rPr>
              <a:t>recommendations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2423160"/>
            <a:ext cx="1920240" cy="777240"/>
          </a:xfrm>
          <a:prstGeom prst="rect">
            <a:avLst/>
          </a:prstGeom>
          <a:solidFill>
            <a:srgbClr val="1E2A45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24231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4899"/>
                </a:solidFill>
              </a:rPr>
              <a:t>DBSCAN detects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C4899"/>
                </a:solidFill>
              </a:rPr>
              <a:t>at-risk outliers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Questions? Let us discuss the pipeline, methodology, or results!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 &amp; Deep Learning</dc:title>
  <dc:subject>PptxGenJS Presentation</dc:subject>
  <dc:creator>PptxGenJS</dc:creator>
  <cp:lastModifiedBy>PptxGenJS</cp:lastModifiedBy>
  <cp:revision>1</cp:revision>
  <dcterms:created xsi:type="dcterms:W3CDTF">2026-04-09T04:26:49Z</dcterms:created>
  <dcterms:modified xsi:type="dcterms:W3CDTF">2026-04-09T04:26:49Z</dcterms:modified>
</cp:coreProperties>
</file>